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029200" cy="4892040"/>
          </a:xfrm>
          <a:prstGeom prst="rect">
            <a:avLst/>
          </a:prstGeom>
          <a:solidFill>
            <a:srgbClr val="102030">
              <a:alpha val="70000"/>
            </a:srgbClr>
          </a:solidFill>
          <a:ln w="12700">
            <a:solidFill>
              <a:srgbClr val="102030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914400"/>
            <a:ext cx="64008" cy="2377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2926080"/>
            <a:ext cx="9144000" cy="1965960"/>
          </a:xfrm>
          <a:prstGeom prst="rect">
            <a:avLst/>
          </a:prstGeom>
          <a:solidFill>
            <a:srgbClr val="102030">
              <a:alpha val="70000"/>
            </a:srgbClr>
          </a:solidFill>
          <a:ln w="12700">
            <a:solidFill>
              <a:srgbClr val="102030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3063240"/>
            <a:ext cx="73152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0175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ShipmentDoc Compliance AI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2920" y="3822192"/>
            <a:ext cx="5486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8953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Goods &amp; Customs Clearance Automation  ·  German Freight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42245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Kinda Faisal  </a:t>
            </a:r>
            <a:pPr indent="0" marL="0">
              <a:buNone/>
            </a:pPr>
            <a:r>
              <a:rPr lang="en-US" sz="1100" dirty="0">
                <a:solidFill>
                  <a:srgbClr val="F0FAFF"/>
                </a:solidFill>
              </a:rPr>
              <a:t>— Freelance AI Consultant  |  AI Consulting Bootcamp  |  April 2026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github.com/kindafaisal-ui/final-project-dg-customs-compliance  |  Portals live — see slides 5 &amp;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6B">
              <a:alpha val="80000"/>
            </a:srgbClr>
          </a:solidFill>
          <a:ln w="12700">
            <a:solidFill>
              <a:srgbClr val="1E4D6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Kinda Faisal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804672"/>
            <a:ext cx="8503920" cy="658368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804672"/>
            <a:ext cx="8503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8778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7A8"/>
                </a:solidFill>
              </a:rPr>
              <a:t>NAME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920240" y="877824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</a:rPr>
              <a:t>Kinda Faisal — Freelance AI Consultant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1554480"/>
            <a:ext cx="8503920" cy="658368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6276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7A8"/>
                </a:solidFill>
              </a:rPr>
              <a:t>BACKGROUND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20240" y="1627632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</a:rPr>
              <a:t>6 years hands-on in international logistics operations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304288"/>
            <a:ext cx="8503920" cy="658368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3774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7A8"/>
                </a:solidFill>
              </a:rPr>
              <a:t>EXPERIENCE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920240" y="2377440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</a:rPr>
              <a:t>Daily work with DG documents, customs clearance, ADR / IMDG / IATA compliance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3054096"/>
            <a:ext cx="8503920" cy="658368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1272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7A8"/>
                </a:solidFill>
              </a:rPr>
              <a:t>PAIN I KNOW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920240" y="3127248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</a:rPr>
              <a:t>Operations staff spend 70–80% of their day managing compliance documents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0040" y="3803904"/>
            <a:ext cx="8503920" cy="658368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7A8"/>
                </a:solidFill>
              </a:rPr>
              <a:t>NOW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920240" y="387705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</a:rPr>
              <a:t>AI Consulting Bootcamp — building real solutions for real logistics problems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6B">
              <a:alpha val="80000"/>
            </a:srgbClr>
          </a:solidFill>
          <a:ln w="12700">
            <a:solidFill>
              <a:srgbClr val="1E4D6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3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777240"/>
            <a:ext cx="8503920" cy="841248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777240"/>
            <a:ext cx="8503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804672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2B3E"/>
                </a:solidFill>
              </a:rPr>
              <a:t>From my 6 years in logistics — operations staff spend 70–80% of their working day on compliance documents. They must verify every document manually for customs clearance AND dangerous goods regulations. One mistake: €50,000 fine or a truck stopped at the border for 2 days.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755648"/>
            <a:ext cx="2029968" cy="18288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755648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8366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" y="23408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9–12 min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74904" y="27614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Per 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manually checked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496312" y="1755648"/>
            <a:ext cx="2029968" cy="18288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96312" y="1755648"/>
            <a:ext cx="2029968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883664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51176" y="23408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5–10%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551176" y="27614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Industry error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on compliance docs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72584" y="1755648"/>
            <a:ext cx="2029968" cy="18288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72584" y="1755648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1883664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27448" y="23408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500 docs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4727448" y="27614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Per day = 83+ hours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of manual work daily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848856" y="1755648"/>
            <a:ext cx="2029968" cy="18288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848856" y="1755648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1883664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03720" y="23408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6 Regs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6903720" y="27614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ADR · IMDG · IATA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UCC · CMR · EUR.1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20040" y="3694176"/>
            <a:ext cx="8503920" cy="548640"/>
          </a:xfrm>
          <a:prstGeom prst="rect">
            <a:avLst/>
          </a:prstGeom>
          <a:solidFill>
            <a:srgbClr val="1E4D6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6732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8680" y="3712464"/>
            <a:ext cx="7818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ADR violations → fines up to €50,000  ·  Missing HS codes / EORI numbers → 1–2 day customs hold  ·  All 6 regulations checked manually — every shipment, every day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6B">
              <a:alpha val="80000"/>
            </a:srgbClr>
          </a:solidFill>
          <a:ln w="12700">
            <a:solidFill>
              <a:srgbClr val="1E4D6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ShipmentDoc Compliance AI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777240"/>
            <a:ext cx="8503920" cy="73152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777240"/>
            <a:ext cx="8503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3E"/>
                </a:solidFill>
              </a:rPr>
              <a:t>AI-powered compliance checking against ADR, IMDG, IATA, EU UCC, CMR and EUR.1 — from 9–12 minutes to 0.44 seconds per document, freeing 83 hours of staff time every day. The AI flags. The human decides.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627632"/>
            <a:ext cx="2788920" cy="265176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627632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" y="17373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Speed &amp; Efficiency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2128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219456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9–12 min → 0.44 seconds per document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7249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270662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83 hours/day freed for operations staff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236976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" y="32186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500 documents processed overnight automatically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227832" y="1627632"/>
            <a:ext cx="2788920" cy="265176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3227832" y="1627632"/>
            <a:ext cx="2788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1755648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94760" y="17373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Green Tech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21284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39312" y="219456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GPT-4o: efficient serverless deployment, no always-on servers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2724912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639312" y="270662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Runs at midnight on off-peak energy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236976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639312" y="32186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80% fewer customs holds → less CO₂ emissions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6135624" y="1627632"/>
            <a:ext cx="2788920" cy="265176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6135624" y="1627632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1755648"/>
            <a:ext cx="36576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702552" y="17373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Human in the Loop</a:t>
            </a:r>
            <a:endParaRPr lang="en-US" sz="13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5352" y="2212848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547104" y="219456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AI flags issues — Human decides. Always.</a:t>
            </a:r>
            <a:endParaRPr lang="en-US" sz="10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5352" y="2724912"/>
            <a:ext cx="237744" cy="237744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547104" y="270662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Every flagged document reviewed before dispatch</a:t>
            </a:r>
            <a:endParaRPr lang="en-US" sz="10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5352" y="3236976"/>
            <a:ext cx="237744" cy="237744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547104" y="32186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Full LangSmith audit trail for every AI decision</a:t>
            </a:r>
            <a:endParaRPr lang="en-US" sz="1000" dirty="0"/>
          </a:p>
        </p:txBody>
      </p:sp>
      <p:sp>
        <p:nvSpPr>
          <p:cNvPr id="41" name="Shape 26"/>
          <p:cNvSpPr/>
          <p:nvPr/>
        </p:nvSpPr>
        <p:spPr>
          <a:xfrm>
            <a:off x="320040" y="4407408"/>
            <a:ext cx="8503920" cy="347472"/>
          </a:xfrm>
          <a:prstGeom prst="rect">
            <a:avLst/>
          </a:prstGeom>
          <a:solidFill>
            <a:srgbClr val="1E4D6B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768" y="4480560"/>
            <a:ext cx="219456" cy="219456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731520" y="444398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Shipper Portal: https://final-project-dg-customs-compliance-3djmsuecztvsuux7jgpyai.streamlit.app/   |   Freight Forwarder: https://final-project-dg-customs-compliance-mffpsnzkusr6pmhcb6e8xv.streamlit.app/</a:t>
            </a:r>
            <a:endParaRPr lang="en-US" sz="850" dirty="0"/>
          </a:p>
        </p:txBody>
      </p:sp>
      <p:sp>
        <p:nvSpPr>
          <p:cNvPr id="44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45" name="Text 2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6B">
              <a:alpha val="80000"/>
            </a:srgbClr>
          </a:solidFill>
          <a:ln w="12700">
            <a:solidFill>
              <a:srgbClr val="1E4D6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The System in Action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5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89320" y="768096"/>
            <a:ext cx="2834640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768096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80760" y="9692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29400" y="859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</a:rPr>
              <a:t>n8n Workflow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29400" y="11521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Runs automatically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at midnight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1792224"/>
            <a:ext cx="2834640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92224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9933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</a:rPr>
              <a:t>Gmail Alert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29400" y="21762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Consolidated 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to management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89320" y="2816352"/>
            <a:ext cx="2834640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2816352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80760" y="301752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29400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</a:rPr>
              <a:t>Portal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29400" y="3200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Staff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flagged docs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89320" y="3840480"/>
            <a:ext cx="2834640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89320" y="3840480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80760" y="404164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807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62940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</a:rPr>
              <a:t>LangSmith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629400" y="42245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Full AI audit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</a:rPr>
              <a:t>trail visible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0040" y="768096"/>
            <a:ext cx="5532120" cy="4005072"/>
          </a:xfrm>
          <a:prstGeom prst="rect">
            <a:avLst/>
          </a:prstGeom>
          <a:solidFill>
            <a:srgbClr val="1E4D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377440" y="201168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774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▶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320040" y="33101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VIDEO DEMO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20040" y="361188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FA8"/>
                </a:solidFill>
              </a:rPr>
              <a:t>Open portal live — enter shipment details and generate checklist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20040" y="385876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https://final-project-dg-customs-compliance-3djmsuecztvsuux7jgpyai.streamlit.app/ (Shipper) · https://final-project-dg-customs-compliance-mffpsnzkusr6pmhcb6e8xv.streamlit.app/ (FF)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6B">
              <a:alpha val="80000"/>
            </a:srgbClr>
          </a:solidFill>
          <a:ln w="12700">
            <a:solidFill>
              <a:srgbClr val="1E4D6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 — How It Works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6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01168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" y="804672"/>
            <a:ext cx="786384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Shipment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Documents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01168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500/day · 7 types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987552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79576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9576" y="804672"/>
            <a:ext cx="78638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9576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n8n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Trigger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79576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Every night 00:00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1965960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57984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57984" y="804672"/>
            <a:ext cx="78638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57984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AI Agent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GPT-4o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157984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LangChain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944368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36392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36392" y="804672"/>
            <a:ext cx="78638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36392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DG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ADR·IMDG·IATA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136392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Dangerous Goods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3922776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0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0" y="804672"/>
            <a:ext cx="786384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0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Customs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UCC·CMR·EUR.1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114800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EU Customs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4901184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93208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93208" y="804672"/>
            <a:ext cx="78638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93208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LangSmith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Audit Log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093208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Full trace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5879592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71616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71616" y="804672"/>
            <a:ext cx="78638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71616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Gmail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Report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071616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Management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6858000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0024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050024" y="804672"/>
            <a:ext cx="78638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0024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Streamlit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Portal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050024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Operations staff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7836408" y="1234440"/>
            <a:ext cx="19202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28432" y="804672"/>
            <a:ext cx="786384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028432" y="804672"/>
            <a:ext cx="78638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028432" y="896112"/>
            <a:ext cx="78638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Human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2B3E"/>
                </a:solidFill>
              </a:rPr>
              <a:t>Decision ✓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8028432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A8"/>
                </a:solidFill>
              </a:rPr>
              <a:t>Final approval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320040" y="1883664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TWO AI AGENTS — HOW EACH WORKS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20040" y="2148840"/>
            <a:ext cx="4160520" cy="2340864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214884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11480" y="2212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Agent 1 — Freight Forwarder Portal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411480" y="25054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7A8"/>
                </a:solidFill>
              </a:rPr>
              <a:t>https://final-project-dg-customs-compliance-mffpsnzkusr6pmhcb6e8xv.streamlit.app/</a:t>
            </a:r>
            <a:endParaRPr lang="en-US" sz="750" dirty="0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0"/>
            <a:ext cx="201168" cy="201168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667512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Operations team enters shipment details via n8n workflow</a:t>
            </a:r>
            <a:endParaRPr lang="en-US" sz="950" dirty="0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72384"/>
            <a:ext cx="201168" cy="201168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667512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Checks DG compliance: ADR tunnel codes, UN numbers, packing groups</a:t>
            </a:r>
            <a:endParaRPr lang="en-US" sz="950" dirty="0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01568"/>
            <a:ext cx="201168" cy="201168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667512" y="3383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Checks customs: HS codes, EORI numbers, CMR fields, EUR.1</a:t>
            </a:r>
            <a:endParaRPr lang="en-US" sz="950" dirty="0"/>
          </a:p>
        </p:txBody>
      </p:sp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30752"/>
            <a:ext cx="201168" cy="201168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667512" y="37124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Flags issues in plain language — emails management at 06:00</a:t>
            </a:r>
            <a:endParaRPr lang="en-US" sz="950" dirty="0"/>
          </a:p>
        </p:txBody>
      </p:sp>
      <p:pic>
        <p:nvPicPr>
          <p:cNvPr id="6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059936"/>
            <a:ext cx="201168" cy="201168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667512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Every decision logged in LangSmith with full audit trail</a:t>
            </a:r>
            <a:endParaRPr lang="en-US" sz="950" dirty="0"/>
          </a:p>
        </p:txBody>
      </p:sp>
      <p:sp>
        <p:nvSpPr>
          <p:cNvPr id="67" name="Shape 59"/>
          <p:cNvSpPr/>
          <p:nvPr/>
        </p:nvSpPr>
        <p:spPr>
          <a:xfrm>
            <a:off x="4663440" y="2148840"/>
            <a:ext cx="4160520" cy="2340864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4663440" y="214884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4754880" y="2212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Agent 2 — Shipper Portal</a:t>
            </a:r>
            <a:endParaRPr lang="en-US" sz="1200" dirty="0"/>
          </a:p>
        </p:txBody>
      </p:sp>
      <p:sp>
        <p:nvSpPr>
          <p:cNvPr id="70" name="Text 62"/>
          <p:cNvSpPr/>
          <p:nvPr/>
        </p:nvSpPr>
        <p:spPr>
          <a:xfrm>
            <a:off x="4754880" y="25054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7A8"/>
                </a:solidFill>
              </a:rPr>
              <a:t>https://final-project-dg-customs-compliance-3djmsuecztvsuux7jgpyai.streamlit.app/</a:t>
            </a:r>
            <a:endParaRPr lang="en-US" sz="750" dirty="0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743200"/>
            <a:ext cx="201168" cy="201168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5010912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Shipper enters shipment details directly in the portal</a:t>
            </a:r>
            <a:endParaRPr lang="en-US" sz="950" dirty="0"/>
          </a:p>
        </p:txBody>
      </p:sp>
      <p:pic>
        <p:nvPicPr>
          <p:cNvPr id="7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072384"/>
            <a:ext cx="201168" cy="201168"/>
          </a:xfrm>
          <a:prstGeom prst="rect">
            <a:avLst/>
          </a:prstGeom>
        </p:spPr>
      </p:pic>
      <p:sp>
        <p:nvSpPr>
          <p:cNvPr id="74" name="Text 64"/>
          <p:cNvSpPr/>
          <p:nvPr/>
        </p:nvSpPr>
        <p:spPr>
          <a:xfrm>
            <a:off x="5010912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AI agent generates full document checklist in real time</a:t>
            </a:r>
            <a:endParaRPr lang="en-US" sz="950" dirty="0"/>
          </a:p>
        </p:txBody>
      </p:sp>
      <p:pic>
        <p:nvPicPr>
          <p:cNvPr id="7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401568"/>
            <a:ext cx="201168" cy="201168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5010912" y="3383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Checks which documents are required per route &amp; cargo type</a:t>
            </a:r>
            <a:endParaRPr lang="en-US" sz="950" dirty="0"/>
          </a:p>
        </p:txBody>
      </p:sp>
      <p:pic>
        <p:nvPicPr>
          <p:cNvPr id="7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730752"/>
            <a:ext cx="201168" cy="201168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5010912" y="37124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Validates dangerous goods classification against IATA/ADR/IMDG</a:t>
            </a:r>
            <a:endParaRPr lang="en-US" sz="950" dirty="0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4059936"/>
            <a:ext cx="201168" cy="201168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5010912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Human compliance officer reviews and approves before dispatch</a:t>
            </a:r>
            <a:endParaRPr lang="en-US" sz="950" dirty="0"/>
          </a:p>
        </p:txBody>
      </p:sp>
      <p:sp>
        <p:nvSpPr>
          <p:cNvPr id="81" name="Shape 6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82" name="Text 6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6B">
              <a:alpha val="80000"/>
            </a:srgbClr>
          </a:solidFill>
          <a:ln w="12700">
            <a:solidFill>
              <a:srgbClr val="1E4D6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Level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7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768096"/>
            <a:ext cx="2788920" cy="4005072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768096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" y="89611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96696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Start Smart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" y="13898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3E"/>
                </a:solidFill>
              </a:rPr>
              <a:t>AI Email Alert Only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9768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</a:rPr>
              <a:t>€1,500–€3,000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29768" y="20482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0"/>
                </a:solidFill>
              </a:rPr>
              <a:t>€100–€200/month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" y="2304288"/>
            <a:ext cx="2578608" cy="18288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39572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408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AI agent checks all documents overnight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779776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Against ADR · IMDG · IATA · EU UCC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638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One email to management daily</a:t>
            </a:r>
            <a:endParaRPr lang="en-US" sz="9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54787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Fastest — 2 weeks to deploy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20040" y="4151376"/>
            <a:ext cx="278892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20040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for: Management overview · Low budget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227832" y="768096"/>
            <a:ext cx="2788920" cy="4005072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227832" y="768096"/>
            <a:ext cx="278892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337560" y="896112"/>
            <a:ext cx="475488" cy="47548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33756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3904488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</a:rPr>
              <a:t>Go Deeper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337560" y="13898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3E"/>
                </a:solidFill>
              </a:rPr>
              <a:t>AI Compliance Portal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3337560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</a:rPr>
              <a:t>€3,500–€6,000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3337560" y="20482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0"/>
                </a:solidFill>
              </a:rPr>
              <a:t>€200–€400/month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337560" y="2304288"/>
            <a:ext cx="2578608" cy="18288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239572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61188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Everything in Option A</a:t>
            </a:r>
            <a:endParaRPr lang="en-US" sz="9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779776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61188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Streamlit portal for operations team</a:t>
            </a:r>
            <a:endParaRPr lang="en-US" sz="95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163824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611880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Plain-language actions per document</a:t>
            </a:r>
            <a:endParaRPr lang="en-US" sz="9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547872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611880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3E"/>
                </a:solidFill>
              </a:rPr>
              <a:t>Full LangSmith audit trail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3227832" y="4151376"/>
            <a:ext cx="2788920" cy="31089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3227832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for: Operations team · Detailed review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6089904" y="768096"/>
            <a:ext cx="2880360" cy="4005072"/>
          </a:xfrm>
          <a:prstGeom prst="rect">
            <a:avLst/>
          </a:prstGeom>
          <a:solidFill>
            <a:srgbClr val="0D2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6089904" y="768096"/>
            <a:ext cx="2880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245352" y="89611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6245352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</a:t>
            </a:r>
            <a:endParaRPr lang="en-US" sz="1400" dirty="0"/>
          </a:p>
        </p:txBody>
      </p:sp>
      <p:sp>
        <p:nvSpPr>
          <p:cNvPr id="50" name="Text 39"/>
          <p:cNvSpPr/>
          <p:nvPr/>
        </p:nvSpPr>
        <p:spPr>
          <a:xfrm>
            <a:off x="681228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Full System ★</a:t>
            </a:r>
            <a:endParaRPr lang="en-US" sz="1300" dirty="0"/>
          </a:p>
        </p:txBody>
      </p:sp>
      <p:sp>
        <p:nvSpPr>
          <p:cNvPr id="51" name="Text 40"/>
          <p:cNvSpPr/>
          <p:nvPr/>
        </p:nvSpPr>
        <p:spPr>
          <a:xfrm>
            <a:off x="6245352" y="13898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AFF"/>
                </a:solidFill>
              </a:rPr>
              <a:t>Complete Automation</a:t>
            </a:r>
            <a:endParaRPr lang="en-US" sz="1050" dirty="0"/>
          </a:p>
        </p:txBody>
      </p:sp>
      <p:sp>
        <p:nvSpPr>
          <p:cNvPr id="52" name="Text 41"/>
          <p:cNvSpPr/>
          <p:nvPr/>
        </p:nvSpPr>
        <p:spPr>
          <a:xfrm>
            <a:off x="6245352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€5,750–€10,900</a:t>
            </a:r>
            <a:endParaRPr lang="en-US" sz="1700" dirty="0"/>
          </a:p>
        </p:txBody>
      </p:sp>
      <p:sp>
        <p:nvSpPr>
          <p:cNvPr id="53" name="Text 42"/>
          <p:cNvSpPr/>
          <p:nvPr/>
        </p:nvSpPr>
        <p:spPr>
          <a:xfrm>
            <a:off x="6245352" y="20482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€264–€810/month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6245352" y="2304288"/>
            <a:ext cx="2578608" cy="182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352" y="2395728"/>
            <a:ext cx="219456" cy="219456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519672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AFF"/>
                </a:solidFill>
              </a:rPr>
              <a:t>Email + Portal combined</a:t>
            </a:r>
            <a:endParaRPr lang="en-US" sz="95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5352" y="2779776"/>
            <a:ext cx="219456" cy="219456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519672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AFF"/>
                </a:solidFill>
              </a:rPr>
              <a:t>AI agent + n8n + LangSmith</a:t>
            </a:r>
            <a:endParaRPr lang="en-US" sz="95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5352" y="3163824"/>
            <a:ext cx="219456" cy="219456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6519672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AFF"/>
                </a:solidFill>
              </a:rPr>
              <a:t>TMS integration ready</a:t>
            </a:r>
            <a:endParaRPr lang="en-US" sz="950" dirty="0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5352" y="3547872"/>
            <a:ext cx="219456" cy="219456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6519672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AFF"/>
                </a:solidFill>
              </a:rPr>
              <a:t>ROI: 1,589% · Break-even &lt; 1 month</a:t>
            </a:r>
            <a:endParaRPr lang="en-US" sz="950" dirty="0"/>
          </a:p>
        </p:txBody>
      </p:sp>
      <p:sp>
        <p:nvSpPr>
          <p:cNvPr id="63" name="Shape 48"/>
          <p:cNvSpPr/>
          <p:nvPr/>
        </p:nvSpPr>
        <p:spPr>
          <a:xfrm>
            <a:off x="6089904" y="4151376"/>
            <a:ext cx="288036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49"/>
          <p:cNvSpPr/>
          <p:nvPr/>
        </p:nvSpPr>
        <p:spPr>
          <a:xfrm>
            <a:off x="6135624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Best for: Full automation · Maximum ROI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66" name="Text 5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6B">
              <a:alpha val="80000"/>
            </a:srgbClr>
          </a:solidFill>
          <a:ln w="12700">
            <a:solidFill>
              <a:srgbClr val="1E4D6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Compliance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8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768096"/>
            <a:ext cx="2029968" cy="109728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768096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595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" y="8229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0.44s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11480" y="12435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Per document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(was 9–12 min)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496312" y="768096"/>
            <a:ext cx="2029968" cy="109728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96312" y="768096"/>
            <a:ext cx="20299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85953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71800" y="8229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8.7/10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2587752" y="12435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AI quality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(LLM-as-judge)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72584" y="768096"/>
            <a:ext cx="2029968" cy="109728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72584" y="768096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85953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48072" y="8229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90.7%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4764024" y="12435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AI 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average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848856" y="768096"/>
            <a:ext cx="2029968" cy="109728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48856" y="768096"/>
            <a:ext cx="20299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859536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24344" y="8229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1.2%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6940296" y="12435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Error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(vs 5–10% manual)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320040" y="1993392"/>
            <a:ext cx="278892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20040" y="1993392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084832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" y="20848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EU AI Act — LIMITED RISK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29768" y="24688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Private company — not a border authority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429768" y="28163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Human-in-the-loop — no autonomous decisions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29768" y="316382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LangSmith audit trail for every AI decision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3227832" y="1993392"/>
            <a:ext cx="278892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227832" y="1993392"/>
            <a:ext cx="2788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084832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739896" y="20848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Green Tech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3337560" y="24688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GPT-4o on serverless cloud — no always-on servers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3337560" y="28163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Runs at midnight on off-peak energy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3337560" y="316382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80% fewer customs holds → less trucks idling → less CO₂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135624" y="1993392"/>
            <a:ext cx="278892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135624" y="1993392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084832"/>
            <a:ext cx="329184" cy="32918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647688" y="20848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Human in the Loop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6245352" y="24688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AI flags — Human makes every final decision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6245352" y="28163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8.7/10 before every decision: AI is evaluated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6245352" y="316382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3E"/>
                </a:solidFill>
              </a:rPr>
              <a:t>›  Human responsibility stays exactly where it is today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320040" y="3712464"/>
            <a:ext cx="8503920" cy="310896"/>
          </a:xfrm>
          <a:prstGeom prst="rect">
            <a:avLst/>
          </a:prstGeom>
          <a:solidFill>
            <a:srgbClr val="1E4D6B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3767328"/>
            <a:ext cx="219456" cy="21945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31520" y="374904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GDPR: shipper names, EORI numbers, driver names · Legal basis: Contract + Legal obligation (EU UCC + ADR 2023) · EU servers (Frankfurt) · 90-day retention</a:t>
            </a:r>
            <a:endParaRPr lang="en-US" sz="850" dirty="0"/>
          </a:p>
        </p:txBody>
      </p:sp>
      <p:sp>
        <p:nvSpPr>
          <p:cNvPr id="52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30">
              <a:alpha val="40000"/>
            </a:srgbClr>
          </a:solidFill>
          <a:ln w="12700">
            <a:solidFill>
              <a:srgbClr val="102030">
                <a:alpha val="4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029200" cy="4892040"/>
          </a:xfrm>
          <a:prstGeom prst="rect">
            <a:avLst/>
          </a:prstGeom>
          <a:solidFill>
            <a:srgbClr val="102030">
              <a:alpha val="70000"/>
            </a:srgbClr>
          </a:solidFill>
          <a:ln w="12700">
            <a:solidFill>
              <a:srgbClr val="102030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3E"/>
                </a:solidFill>
              </a:rPr>
              <a:t>9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7472" y="777240"/>
            <a:ext cx="64008" cy="2377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777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</a:rPr>
              <a:t>Questions &amp; Discussion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4114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0116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AI flags. The human decides.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Transparent · Affordable · Compliant · Green · Fast.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52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</a:rPr>
              <a:t>kindafaisal@hotmail.com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69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236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</a:rPr>
              <a:t>github.com/kindafaisal-ui/final-project-dg-customs-compliance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210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</a:rPr>
              <a:t>Freight Forwarder Portal: https://final-project-dg-customs-compliance-mffpsnzkusr6pmhcb6e8xv.streamlit.app/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0507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</a:rPr>
              <a:t>Shipper Portal: https://final-project-dg-customs-compliance-3djmsuecztvsuux7jgpyai.streamlit.app/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0" y="4590288"/>
            <a:ext cx="9144000" cy="3017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" y="4626864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2920" y="46085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E"/>
                </a:solidFill>
              </a:rPr>
              <a:t>Next Step: 60-day pilot with real shipment data — validate, refine, deploy at scale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FA8"/>
                </a:solidFill>
              </a:rPr>
              <a:t>ShipmentDoc Compliance AI  |  Kinda Faisal AI Consulting  |  AI Consulting Bootcamp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ShipmentDoc Compliance AI</dc:title>
  <dc:subject>PptxGenJS Presentation</dc:subject>
  <dc:creator>Kinda Faisal</dc:creator>
  <cp:lastModifiedBy>Kinda Faisal</cp:lastModifiedBy>
  <cp:revision>1</cp:revision>
  <dcterms:created xsi:type="dcterms:W3CDTF">2026-04-02T07:51:18Z</dcterms:created>
  <dcterms:modified xsi:type="dcterms:W3CDTF">2026-04-02T07:51:18Z</dcterms:modified>
</cp:coreProperties>
</file>